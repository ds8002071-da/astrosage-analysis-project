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4630400" cy="8229600"/>
  <p:notesSz cx="8229600" cy="14630400"/>
  <p:embeddedFontLs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Calibri Light" panose="020F0302020204030204" pitchFamily="34" charset="0"/>
      <p:regular r:id="rId26"/>
      <p:italic r:id="rId27"/>
    </p:embeddedFont>
    <p:embeddedFont>
      <p:font typeface="Inter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96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4691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56341"/>
            <a:ext cx="7556421" cy="2232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+mj-lt"/>
                <a:ea typeface="Petrona Bold" pitchFamily="34" charset="-122"/>
                <a:cs typeface="Petrona Bold" pitchFamily="34" charset="-120"/>
              </a:rPr>
              <a:t>AstroSage: A Comprehensive Data-Driven Analysis</a:t>
            </a:r>
            <a:endParaRPr lang="en-US" sz="4650" dirty="0">
              <a:latin typeface="+mj-lt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472928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Exploring consultation patterns, revenue insights, and customer engagement in astrology services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571023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Deepshikha</a:t>
            </a: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| September 21, 2025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7028"/>
            <a:ext cx="7044333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+mj-lt"/>
                <a:ea typeface="Petrona Bold" pitchFamily="34" charset="-122"/>
                <a:cs typeface="Petrona Bold" pitchFamily="34" charset="-120"/>
              </a:rPr>
              <a:t>Introduction</a:t>
            </a: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to AstroSage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275523"/>
            <a:ext cx="760428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AstroSage is a leading digital platform offering comprehensive astrology services including horoscope matching, birth chart generation, and AI-powered astrological consultations. The platform serves as an essential tool for astrologers and individuals seeking guidance on life decisions.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294108"/>
            <a:ext cx="760428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a diverse user base, AstroSage helps Hindus make important decisions about marriage, business ventures, and major life transitions. The platform combines traditional astrological wisdom with modern technology to deliver accessible guidance.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949791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analysis examines consultation patterns, revenue streams, and customer engagement metrics to provide actionable insights for strategic growth.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96" y="2326600"/>
            <a:ext cx="4423053" cy="2704981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9096" y="5286732"/>
            <a:ext cx="3402330" cy="12082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165" y="586264"/>
            <a:ext cx="3637717" cy="454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FF8AAF"/>
                </a:solidFill>
                <a:latin typeface="+mj-lt"/>
                <a:ea typeface="Petrona Bold" pitchFamily="34" charset="-122"/>
                <a:cs typeface="Petrona Bold" pitchFamily="34" charset="-120"/>
              </a:rPr>
              <a:t>Data Overview</a:t>
            </a:r>
            <a:endParaRPr lang="en-US" sz="2850" dirty="0">
              <a:latin typeface="+mj-lt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46165" y="1317903"/>
            <a:ext cx="4286964" cy="1378506"/>
          </a:xfrm>
          <a:prstGeom prst="roundRect">
            <a:avLst>
              <a:gd name="adj" fmla="val 4222"/>
            </a:avLst>
          </a:prstGeom>
          <a:solidFill>
            <a:srgbClr val="2F1D63"/>
          </a:solidFill>
          <a:ln w="7620">
            <a:solidFill>
              <a:srgbClr val="876C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2254" y="1463993"/>
            <a:ext cx="415647" cy="415647"/>
          </a:xfrm>
          <a:prstGeom prst="roundRect">
            <a:avLst>
              <a:gd name="adj" fmla="val 21997237"/>
            </a:avLst>
          </a:prstGeom>
          <a:solidFill>
            <a:srgbClr val="876CD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6554" y="1578173"/>
            <a:ext cx="187047" cy="1870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2254" y="2018109"/>
            <a:ext cx="1960364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 Consultation Services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92254" y="2328624"/>
            <a:ext cx="3994785" cy="22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channels for customer engagement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71599" y="1317903"/>
            <a:ext cx="4287083" cy="1378506"/>
          </a:xfrm>
          <a:prstGeom prst="roundRect">
            <a:avLst>
              <a:gd name="adj" fmla="val 4222"/>
            </a:avLst>
          </a:prstGeom>
          <a:solidFill>
            <a:srgbClr val="2F1D63"/>
          </a:solidFill>
          <a:ln w="7620">
            <a:solidFill>
              <a:srgbClr val="876C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317688" y="1463993"/>
            <a:ext cx="415647" cy="415647"/>
          </a:xfrm>
          <a:prstGeom prst="roundRect">
            <a:avLst>
              <a:gd name="adj" fmla="val 21997237"/>
            </a:avLst>
          </a:prstGeom>
          <a:solidFill>
            <a:srgbClr val="876CD4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31988" y="1578173"/>
            <a:ext cx="187047" cy="1870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17688" y="2018109"/>
            <a:ext cx="1818799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149 Consultants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317688" y="2328624"/>
            <a:ext cx="3994904" cy="22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Expert astrologers available across platforms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9597152" y="1317903"/>
            <a:ext cx="4286964" cy="1378506"/>
          </a:xfrm>
          <a:prstGeom prst="roundRect">
            <a:avLst>
              <a:gd name="adj" fmla="val 4222"/>
            </a:avLst>
          </a:prstGeom>
          <a:solidFill>
            <a:srgbClr val="2F1D63"/>
          </a:solidFill>
          <a:ln w="7620">
            <a:solidFill>
              <a:srgbClr val="876CD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743242" y="1463993"/>
            <a:ext cx="415647" cy="415647"/>
          </a:xfrm>
          <a:prstGeom prst="roundRect">
            <a:avLst>
              <a:gd name="adj" fmla="val 21997237"/>
            </a:avLst>
          </a:prstGeom>
          <a:solidFill>
            <a:srgbClr val="876CD4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57542" y="1578173"/>
            <a:ext cx="187047" cy="18704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743242" y="2018109"/>
            <a:ext cx="1975604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Comprehensive Dataset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9743242" y="2328624"/>
            <a:ext cx="3994785" cy="22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Rich insights for analysis and forecasting</a:t>
            </a:r>
            <a:endParaRPr lang="en-US" sz="10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6165" y="3008114"/>
            <a:ext cx="6490976" cy="481191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91889" y="2990731"/>
            <a:ext cx="2182654" cy="272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Strategic Insights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7491889" y="3401973"/>
            <a:ext cx="6399967" cy="443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comprehensive dataset enables deep analysis of operational costs, customer satisfaction metrics, and sales trends across consultation channels.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7491889" y="4406727"/>
            <a:ext cx="6399967" cy="665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examining historical patterns and performance indicators, we can predict future revenue opportunities and recommend strategic investments to drive sustainable growth in consultation services.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4758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+mj-lt"/>
                <a:ea typeface="Petrona Bold" pitchFamily="34" charset="-122"/>
                <a:cs typeface="Petrona Bold" pitchFamily="34" charset="-120"/>
              </a:rPr>
              <a:t>Methodology</a:t>
            </a:r>
            <a:endParaRPr lang="en-US" sz="465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12264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477691"/>
            <a:ext cx="4196358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265199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Cleaning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793790" y="3160157"/>
            <a:ext cx="419635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Applied spreadsheet functions including TRIM and duplicate removal to ensure data integrity and consistency across all records.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16962" y="212264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2477691"/>
            <a:ext cx="4196358" cy="3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6962" y="265199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Enrichment</a:t>
            </a:r>
            <a:endParaRPr lang="en-US" sz="2300" dirty="0"/>
          </a:p>
        </p:txBody>
      </p:sp>
      <p:sp>
        <p:nvSpPr>
          <p:cNvPr id="10" name="Text 6"/>
          <p:cNvSpPr/>
          <p:nvPr/>
        </p:nvSpPr>
        <p:spPr>
          <a:xfrm>
            <a:off x="5216962" y="3160157"/>
            <a:ext cx="419635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Enhanced dataset with calculated variables using date functions and derived metrics to enable multidimensional analysis.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9640133" y="212264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2477691"/>
            <a:ext cx="4196358" cy="30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40133" y="2651998"/>
            <a:ext cx="329886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Segmentation</a:t>
            </a:r>
            <a:endParaRPr lang="en-US" sz="2300" dirty="0"/>
          </a:p>
        </p:txBody>
      </p:sp>
      <p:sp>
        <p:nvSpPr>
          <p:cNvPr id="14" name="Text 9"/>
          <p:cNvSpPr/>
          <p:nvPr/>
        </p:nvSpPr>
        <p:spPr>
          <a:xfrm>
            <a:off x="9640133" y="3160157"/>
            <a:ext cx="419635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Utilized sorting and filtering techniques to classify customers based on consultation type, enabling targeted analysis.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93790" y="500860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17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40906"/>
            <a:ext cx="6407944" cy="30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93790" y="5537954"/>
            <a:ext cx="298430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Performance Analysis</a:t>
            </a:r>
            <a:endParaRPr lang="en-US" sz="2300" dirty="0"/>
          </a:p>
        </p:txBody>
      </p:sp>
      <p:sp>
        <p:nvSpPr>
          <p:cNvPr id="18" name="Text 12"/>
          <p:cNvSpPr/>
          <p:nvPr/>
        </p:nvSpPr>
        <p:spPr>
          <a:xfrm>
            <a:off x="793790" y="6046113"/>
            <a:ext cx="64079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Deployed pivot tables to analyze consultant performance across categories and examine rating distributions from user feedback.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7428548" y="500860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05</a:t>
            </a:r>
            <a:endParaRPr lang="en-US" sz="17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548" y="5340906"/>
            <a:ext cx="6407944" cy="30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428548" y="553795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Visualization</a:t>
            </a:r>
            <a:endParaRPr lang="en-US" sz="2300" dirty="0"/>
          </a:p>
        </p:txBody>
      </p:sp>
      <p:sp>
        <p:nvSpPr>
          <p:cNvPr id="22" name="Text 15"/>
          <p:cNvSpPr/>
          <p:nvPr/>
        </p:nvSpPr>
        <p:spPr>
          <a:xfrm>
            <a:off x="7428548" y="6046113"/>
            <a:ext cx="64079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an interactive dashboard with multiple chart types to provide comprehensive views of all key metrics and trends.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8782"/>
            <a:ext cx="8618934" cy="706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8AAF"/>
                </a:solidFill>
                <a:latin typeface="+mj-lt"/>
                <a:ea typeface="Petrona Bold" pitchFamily="34" charset="-122"/>
                <a:cs typeface="Petrona Bold" pitchFamily="34" charset="-120"/>
              </a:rPr>
              <a:t>Hourly Call Distribution Patterns</a:t>
            </a:r>
            <a:endParaRPr lang="en-US" sz="4450" dirty="0">
              <a:latin typeface="+mj-lt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001322"/>
            <a:ext cx="6589990" cy="4578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64128" y="1974294"/>
            <a:ext cx="3393877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Peak Activity Hours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8264128" y="2748558"/>
            <a:ext cx="2655332" cy="711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55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660</a:t>
            </a:r>
            <a:endParaRPr lang="en-US" sz="5550" dirty="0"/>
          </a:p>
        </p:txBody>
      </p:sp>
      <p:sp>
        <p:nvSpPr>
          <p:cNvPr id="6" name="Text 3"/>
          <p:cNvSpPr/>
          <p:nvPr/>
        </p:nvSpPr>
        <p:spPr>
          <a:xfrm>
            <a:off x="8264128" y="3728799"/>
            <a:ext cx="2655332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Maximum Hourly Calls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264128" y="4650938"/>
            <a:ext cx="2655332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volume in a single hour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1188779" y="2748558"/>
            <a:ext cx="2655332" cy="711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55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10AM</a:t>
            </a:r>
            <a:endParaRPr lang="en-US" sz="5550" dirty="0"/>
          </a:p>
        </p:txBody>
      </p:sp>
      <p:sp>
        <p:nvSpPr>
          <p:cNvPr id="9" name="Text 6"/>
          <p:cNvSpPr/>
          <p:nvPr/>
        </p:nvSpPr>
        <p:spPr>
          <a:xfrm>
            <a:off x="11188779" y="3728799"/>
            <a:ext cx="2655332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Peak Period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1188779" y="4297561"/>
            <a:ext cx="2655332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Mid-morning concentration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8264128" y="5582960"/>
            <a:ext cx="5579983" cy="172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analysis reveals distinct patterns in call distribution throughout the day, with </a:t>
            </a:r>
            <a:r>
              <a:rPr lang="en-US" sz="1650" b="1" dirty="0">
                <a:solidFill>
                  <a:srgbClr val="876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mid-morning hours</a:t>
            </a:r>
            <a:r>
              <a:rPr lang="en-US" sz="16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consistently receiving the highest volume of consultation requests. This insight is critical for resource allocation and staffing optimization.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798790"/>
            <a:ext cx="7291983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+mj-lt"/>
                <a:ea typeface="Petrona Bold" pitchFamily="34" charset="-122"/>
                <a:cs typeface="Petrona Bold" pitchFamily="34" charset="-120"/>
              </a:rPr>
              <a:t>Daily Call Volume Analysis</a:t>
            </a:r>
            <a:endParaRPr lang="en-US" sz="4650" dirty="0">
              <a:latin typeface="+mj-lt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280190" y="1883212"/>
            <a:ext cx="3664744" cy="3209330"/>
          </a:xfrm>
          <a:prstGeom prst="roundRect">
            <a:avLst>
              <a:gd name="adj" fmla="val 2968"/>
            </a:avLst>
          </a:prstGeom>
          <a:solidFill>
            <a:srgbClr val="0C0524">
              <a:alpha val="95000"/>
            </a:srgbClr>
          </a:solidFill>
          <a:ln w="30480">
            <a:solidFill>
              <a:srgbClr val="48367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37484" y="214050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Peak Daily Volume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6537484" y="2648664"/>
            <a:ext cx="315015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876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430 calls</a:t>
            </a: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represents the maximum consultation volume recorded in a single day, indicating high-demand periods.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1883212"/>
            <a:ext cx="3664863" cy="3209330"/>
          </a:xfrm>
          <a:prstGeom prst="roundRect">
            <a:avLst>
              <a:gd name="adj" fmla="val 2968"/>
            </a:avLst>
          </a:prstGeom>
          <a:solidFill>
            <a:srgbClr val="0C0524">
              <a:alpha val="95000"/>
            </a:srgbClr>
          </a:solidFill>
          <a:ln w="30480">
            <a:solidFill>
              <a:srgbClr val="48367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29042" y="2140506"/>
            <a:ext cx="3150275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Average Daily Performance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10429042" y="3020735"/>
            <a:ext cx="315027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call center maintains a consistent baseline of approximately </a:t>
            </a:r>
            <a:r>
              <a:rPr lang="en-US" sz="1750" b="1" dirty="0">
                <a:solidFill>
                  <a:srgbClr val="FF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250 calls daily</a:t>
            </a: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demonstrating stable customer engagement.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319355"/>
            <a:ext cx="7556421" cy="2111454"/>
          </a:xfrm>
          <a:prstGeom prst="roundRect">
            <a:avLst>
              <a:gd name="adj" fmla="val 4512"/>
            </a:avLst>
          </a:prstGeom>
          <a:solidFill>
            <a:srgbClr val="0C0524">
              <a:alpha val="95000"/>
            </a:srgbClr>
          </a:solidFill>
          <a:ln w="30480">
            <a:solidFill>
              <a:srgbClr val="48367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37484" y="5576649"/>
            <a:ext cx="345055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Operational Implications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6537484" y="6084808"/>
            <a:ext cx="704183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daily patterns enables better capacity planning and ensures adequate consultant availability during high-volume periods.</a:t>
            </a:r>
            <a:endParaRPr lang="en-US" sz="1750" dirty="0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E2228796-7318-7D7F-9BC2-D0F5D8E03557}"/>
              </a:ext>
            </a:extLst>
          </p:cNvPr>
          <p:cNvSpPr/>
          <p:nvPr/>
        </p:nvSpPr>
        <p:spPr>
          <a:xfrm>
            <a:off x="88544" y="1151156"/>
            <a:ext cx="5934351" cy="6120289"/>
          </a:xfrm>
          <a:custGeom>
            <a:avLst/>
            <a:gdLst/>
            <a:ahLst/>
            <a:cxnLst/>
            <a:rect l="l" t="t" r="r" b="b"/>
            <a:pathLst>
              <a:path w="9330230" h="6120289">
                <a:moveTo>
                  <a:pt x="0" y="0"/>
                </a:moveTo>
                <a:lnTo>
                  <a:pt x="9330230" y="0"/>
                </a:lnTo>
                <a:lnTo>
                  <a:pt x="9330230" y="6120289"/>
                </a:lnTo>
                <a:lnTo>
                  <a:pt x="0" y="6120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5925" y="578168"/>
            <a:ext cx="10351056" cy="655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FF8AAF"/>
                </a:solidFill>
                <a:latin typeface="+mj-lt"/>
                <a:ea typeface="Petrona Bold" pitchFamily="34" charset="-122"/>
                <a:cs typeface="Petrona Bold" pitchFamily="34" charset="-120"/>
              </a:rPr>
              <a:t>Revenue Distribution by Consultation Type</a:t>
            </a:r>
            <a:endParaRPr lang="en-US" sz="4100" dirty="0">
              <a:latin typeface="+mj-lt"/>
            </a:endParaRPr>
          </a:p>
        </p:txBody>
      </p:sp>
      <p:sp>
        <p:nvSpPr>
          <p:cNvPr id="5" name="Text 1"/>
          <p:cNvSpPr/>
          <p:nvPr/>
        </p:nvSpPr>
        <p:spPr>
          <a:xfrm>
            <a:off x="6884075" y="1732836"/>
            <a:ext cx="3146227" cy="393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Revenue Insights</a:t>
            </a:r>
            <a:endParaRPr lang="en-US" sz="2450" dirty="0"/>
          </a:p>
        </p:txBody>
      </p:sp>
      <p:sp>
        <p:nvSpPr>
          <p:cNvPr id="6" name="Text 2"/>
          <p:cNvSpPr/>
          <p:nvPr/>
        </p:nvSpPr>
        <p:spPr>
          <a:xfrm>
            <a:off x="6884075" y="2325767"/>
            <a:ext cx="7017901" cy="1278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product-wise revenue analysis reveals a detailed breakdown of income generated across different consultation formats. This data-driven perspective provides essential insights into which services drive the most value.</a:t>
            </a:r>
            <a:endParaRPr lang="en-US" sz="1550" dirty="0"/>
          </a:p>
        </p:txBody>
      </p:sp>
      <p:sp>
        <p:nvSpPr>
          <p:cNvPr id="7" name="Shape 3"/>
          <p:cNvSpPr/>
          <p:nvPr/>
        </p:nvSpPr>
        <p:spPr>
          <a:xfrm>
            <a:off x="6884075" y="3828693"/>
            <a:ext cx="7017901" cy="1807369"/>
          </a:xfrm>
          <a:prstGeom prst="roundRect">
            <a:avLst>
              <a:gd name="adj" fmla="val 4642"/>
            </a:avLst>
          </a:prstGeom>
          <a:solidFill>
            <a:srgbClr val="1C113B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743" y="4132064"/>
            <a:ext cx="249674" cy="1996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533084" y="4078248"/>
            <a:ext cx="6169223" cy="1278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876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consultations emerge as the most profitable service</a:t>
            </a: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representing the primary revenue driver for AstroSage's business model. This finding suggests strategic priorities for marketing investment and consultant training programs.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6884075" y="5860733"/>
            <a:ext cx="7017901" cy="958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the revenue contribution of each consultation type enables optimized resource allocation and targeted growth strategies across the platform.</a:t>
            </a:r>
            <a:endParaRPr lang="en-US" sz="1550" dirty="0"/>
          </a:p>
        </p:txBody>
      </p:sp>
      <p:grpSp>
        <p:nvGrpSpPr>
          <p:cNvPr id="11" name="Group 9">
            <a:extLst>
              <a:ext uri="{FF2B5EF4-FFF2-40B4-BE49-F238E27FC236}">
                <a16:creationId xmlns:a16="http://schemas.microsoft.com/office/drawing/2014/main" id="{15E7A1C7-8759-B1EC-6896-7C72E8525D0A}"/>
              </a:ext>
            </a:extLst>
          </p:cNvPr>
          <p:cNvGrpSpPr/>
          <p:nvPr/>
        </p:nvGrpSpPr>
        <p:grpSpPr>
          <a:xfrm>
            <a:off x="100726" y="1762059"/>
            <a:ext cx="6583680" cy="5450272"/>
            <a:chOff x="0" y="0"/>
            <a:chExt cx="940712" cy="825207"/>
          </a:xfrm>
        </p:grpSpPr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76B5789B-B2BA-172D-54B8-D4F8EA9B62D3}"/>
                </a:ext>
              </a:extLst>
            </p:cNvPr>
            <p:cNvSpPr/>
            <p:nvPr/>
          </p:nvSpPr>
          <p:spPr>
            <a:xfrm>
              <a:off x="0" y="0"/>
              <a:ext cx="940712" cy="825207"/>
            </a:xfrm>
            <a:custGeom>
              <a:avLst/>
              <a:gdLst/>
              <a:ahLst/>
              <a:cxnLst/>
              <a:rect l="l" t="t" r="r" b="b"/>
              <a:pathLst>
                <a:path w="940712" h="825207">
                  <a:moveTo>
                    <a:pt x="24769" y="0"/>
                  </a:moveTo>
                  <a:lnTo>
                    <a:pt x="915943" y="0"/>
                  </a:lnTo>
                  <a:cubicBezTo>
                    <a:pt x="922513" y="0"/>
                    <a:pt x="928813" y="2610"/>
                    <a:pt x="933458" y="7255"/>
                  </a:cubicBezTo>
                  <a:cubicBezTo>
                    <a:pt x="938103" y="11900"/>
                    <a:pt x="940712" y="18200"/>
                    <a:pt x="940712" y="24769"/>
                  </a:cubicBezTo>
                  <a:lnTo>
                    <a:pt x="940712" y="800438"/>
                  </a:lnTo>
                  <a:cubicBezTo>
                    <a:pt x="940712" y="807007"/>
                    <a:pt x="938103" y="813308"/>
                    <a:pt x="933458" y="817953"/>
                  </a:cubicBezTo>
                  <a:cubicBezTo>
                    <a:pt x="928813" y="822598"/>
                    <a:pt x="922513" y="825207"/>
                    <a:pt x="915943" y="825207"/>
                  </a:cubicBezTo>
                  <a:lnTo>
                    <a:pt x="24769" y="825207"/>
                  </a:lnTo>
                  <a:cubicBezTo>
                    <a:pt x="18200" y="825207"/>
                    <a:pt x="11900" y="822598"/>
                    <a:pt x="7255" y="817953"/>
                  </a:cubicBezTo>
                  <a:cubicBezTo>
                    <a:pt x="2610" y="813308"/>
                    <a:pt x="0" y="807007"/>
                    <a:pt x="0" y="800438"/>
                  </a:cubicBezTo>
                  <a:lnTo>
                    <a:pt x="0" y="24769"/>
                  </a:lnTo>
                  <a:cubicBezTo>
                    <a:pt x="0" y="18200"/>
                    <a:pt x="2610" y="11900"/>
                    <a:pt x="7255" y="7255"/>
                  </a:cubicBezTo>
                  <a:cubicBezTo>
                    <a:pt x="11900" y="2610"/>
                    <a:pt x="18200" y="0"/>
                    <a:pt x="24769" y="0"/>
                  </a:cubicBezTo>
                  <a:close/>
                </a:path>
              </a:pathLst>
            </a:custGeom>
            <a:blipFill>
              <a:blip r:embed="rId4"/>
              <a:stretch>
                <a:fillRect l="-9644" r="-9644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2361" y="622578"/>
            <a:ext cx="6905268" cy="631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FF8AAF"/>
                </a:solidFill>
                <a:latin typeface="+mj-lt"/>
                <a:ea typeface="Petrona Bold" pitchFamily="34" charset="-122"/>
                <a:cs typeface="Petrona Bold" pitchFamily="34" charset="-120"/>
              </a:rPr>
              <a:t>Website Channel Distribution</a:t>
            </a:r>
            <a:endParaRPr lang="en-US" sz="3950" dirty="0">
              <a:latin typeface="+mj-lt"/>
            </a:endParaRPr>
          </a:p>
        </p:txBody>
      </p:sp>
      <p:sp>
        <p:nvSpPr>
          <p:cNvPr id="4" name="Text 1"/>
          <p:cNvSpPr/>
          <p:nvPr/>
        </p:nvSpPr>
        <p:spPr>
          <a:xfrm>
            <a:off x="7557492" y="1734979"/>
            <a:ext cx="4281011" cy="378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Channel Performance Analysis</a:t>
            </a:r>
            <a:endParaRPr lang="en-US" sz="2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9644" y="2336244"/>
            <a:ext cx="288608" cy="28860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82808" y="2330291"/>
            <a:ext cx="2525792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Gurucool Dominance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8182808" y="2838331"/>
            <a:ext cx="5662851" cy="92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largest volume of consultations originates from the Gurucool platform, indicating strong brand presence and user engagement in this channel.</a:t>
            </a:r>
            <a:endParaRPr lang="en-US" sz="15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9644" y="4152424"/>
            <a:ext cx="288608" cy="288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182808" y="4146471"/>
            <a:ext cx="3545681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Dashboard Underperformance</a:t>
            </a:r>
            <a:endParaRPr lang="en-US" sz="1950" dirty="0"/>
          </a:p>
        </p:txBody>
      </p:sp>
      <p:sp>
        <p:nvSpPr>
          <p:cNvPr id="10" name="Text 5"/>
          <p:cNvSpPr/>
          <p:nvPr/>
        </p:nvSpPr>
        <p:spPr>
          <a:xfrm>
            <a:off x="8182808" y="4654510"/>
            <a:ext cx="5662851" cy="92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dashboard channel records the lowest consultation volume, suggesting potential opportunities for interface optimization or increased marketing focus.</a:t>
            </a:r>
            <a:endParaRPr lang="en-US" sz="15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9644" y="5968603"/>
            <a:ext cx="288608" cy="2886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182808" y="5962650"/>
            <a:ext cx="2718078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Multi-Channel Strategy</a:t>
            </a:r>
            <a:endParaRPr lang="en-US" sz="1950" dirty="0"/>
          </a:p>
        </p:txBody>
      </p:sp>
      <p:sp>
        <p:nvSpPr>
          <p:cNvPr id="13" name="Text 7"/>
          <p:cNvSpPr/>
          <p:nvPr/>
        </p:nvSpPr>
        <p:spPr>
          <a:xfrm>
            <a:off x="8182808" y="6470690"/>
            <a:ext cx="5662851" cy="92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Distribution across multiple websites demonstrates diversified customer acquisition, reducing dependency on any single platform.</a:t>
            </a:r>
            <a:endParaRPr lang="en-US" sz="1500" dirty="0"/>
          </a:p>
        </p:txBody>
      </p:sp>
      <p:grpSp>
        <p:nvGrpSpPr>
          <p:cNvPr id="14" name="Group 9">
            <a:extLst>
              <a:ext uri="{FF2B5EF4-FFF2-40B4-BE49-F238E27FC236}">
                <a16:creationId xmlns:a16="http://schemas.microsoft.com/office/drawing/2014/main" id="{D06D98BA-87B3-339B-36FC-0F8AB2C83A4A}"/>
              </a:ext>
            </a:extLst>
          </p:cNvPr>
          <p:cNvGrpSpPr/>
          <p:nvPr/>
        </p:nvGrpSpPr>
        <p:grpSpPr>
          <a:xfrm>
            <a:off x="103922" y="1501353"/>
            <a:ext cx="7189014" cy="6306313"/>
            <a:chOff x="0" y="0"/>
            <a:chExt cx="940712" cy="825207"/>
          </a:xfrm>
        </p:grpSpPr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8BBCEA53-57F9-3856-C345-FAD3E0869489}"/>
                </a:ext>
              </a:extLst>
            </p:cNvPr>
            <p:cNvSpPr/>
            <p:nvPr/>
          </p:nvSpPr>
          <p:spPr>
            <a:xfrm>
              <a:off x="0" y="0"/>
              <a:ext cx="940712" cy="825207"/>
            </a:xfrm>
            <a:custGeom>
              <a:avLst/>
              <a:gdLst/>
              <a:ahLst/>
              <a:cxnLst/>
              <a:rect l="l" t="t" r="r" b="b"/>
              <a:pathLst>
                <a:path w="940712" h="825207">
                  <a:moveTo>
                    <a:pt x="24769" y="0"/>
                  </a:moveTo>
                  <a:lnTo>
                    <a:pt x="915943" y="0"/>
                  </a:lnTo>
                  <a:cubicBezTo>
                    <a:pt x="922513" y="0"/>
                    <a:pt x="928813" y="2610"/>
                    <a:pt x="933458" y="7255"/>
                  </a:cubicBezTo>
                  <a:cubicBezTo>
                    <a:pt x="938103" y="11900"/>
                    <a:pt x="940712" y="18200"/>
                    <a:pt x="940712" y="24769"/>
                  </a:cubicBezTo>
                  <a:lnTo>
                    <a:pt x="940712" y="800438"/>
                  </a:lnTo>
                  <a:cubicBezTo>
                    <a:pt x="940712" y="807007"/>
                    <a:pt x="938103" y="813308"/>
                    <a:pt x="933458" y="817953"/>
                  </a:cubicBezTo>
                  <a:cubicBezTo>
                    <a:pt x="928813" y="822598"/>
                    <a:pt x="922513" y="825207"/>
                    <a:pt x="915943" y="825207"/>
                  </a:cubicBezTo>
                  <a:lnTo>
                    <a:pt x="24769" y="825207"/>
                  </a:lnTo>
                  <a:cubicBezTo>
                    <a:pt x="18200" y="825207"/>
                    <a:pt x="11900" y="822598"/>
                    <a:pt x="7255" y="817953"/>
                  </a:cubicBezTo>
                  <a:cubicBezTo>
                    <a:pt x="2610" y="813308"/>
                    <a:pt x="0" y="807007"/>
                    <a:pt x="0" y="800438"/>
                  </a:cubicBezTo>
                  <a:lnTo>
                    <a:pt x="0" y="24769"/>
                  </a:lnTo>
                  <a:cubicBezTo>
                    <a:pt x="0" y="18200"/>
                    <a:pt x="2610" y="11900"/>
                    <a:pt x="7255" y="7255"/>
                  </a:cubicBezTo>
                  <a:cubicBezTo>
                    <a:pt x="11900" y="2610"/>
                    <a:pt x="18200" y="0"/>
                    <a:pt x="24769" y="0"/>
                  </a:cubicBezTo>
                  <a:close/>
                </a:path>
              </a:pathLst>
            </a:custGeom>
            <a:blipFill>
              <a:blip r:embed="rId5"/>
              <a:stretch>
                <a:fillRect l="-17867" r="-3968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9131"/>
            <a:ext cx="4590812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FF8AAF"/>
                </a:solidFill>
                <a:latin typeface="+mj-lt"/>
                <a:ea typeface="Petrona Bold" pitchFamily="34" charset="-122"/>
                <a:cs typeface="Petrona Bold" pitchFamily="34" charset="-120"/>
              </a:rPr>
              <a:t>Call Status Breakdown</a:t>
            </a:r>
            <a:endParaRPr lang="en-US" sz="350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1850350" y="2673191"/>
            <a:ext cx="209240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25%</a:t>
            </a:r>
            <a:endParaRPr lang="en-US" sz="3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798" y="1609963"/>
            <a:ext cx="2551748" cy="25517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80223" y="4374237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Completed Calls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755237"/>
            <a:ext cx="420576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Successfully connected consultations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268760" y="2673191"/>
            <a:ext cx="209240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50%</a:t>
            </a:r>
            <a:endParaRPr lang="en-US" sz="3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9207" y="1609963"/>
            <a:ext cx="2551748" cy="25517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98751" y="4374237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Failed Calls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5212199" y="4755237"/>
            <a:ext cx="4205883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proportion requiring attention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687288" y="2673191"/>
            <a:ext cx="209240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25%</a:t>
            </a:r>
            <a:endParaRPr lang="en-US" sz="3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736" y="1609963"/>
            <a:ext cx="2551748" cy="25517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617279" y="4374237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Other Status (NA)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9630728" y="4755237"/>
            <a:ext cx="4205883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Non-call consultation types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6184463" y="5388769"/>
            <a:ext cx="2679383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Critical Findings</a:t>
            </a:r>
            <a:endParaRPr lang="en-US" sz="2100" dirty="0"/>
          </a:p>
        </p:txBody>
      </p:sp>
      <p:sp>
        <p:nvSpPr>
          <p:cNvPr id="17" name="Text 11"/>
          <p:cNvSpPr/>
          <p:nvPr/>
        </p:nvSpPr>
        <p:spPr>
          <a:xfrm>
            <a:off x="6184463" y="5893594"/>
            <a:ext cx="7659648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call status analysis reveals a significant challenge: </a:t>
            </a:r>
            <a:r>
              <a:rPr lang="en-US" sz="1300" b="1" dirty="0">
                <a:solidFill>
                  <a:srgbClr val="FF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failed calls represent the largest segment</a:t>
            </a: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indicating potential issues with connectivity, availability, or technical infrastructure.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184463" y="6590943"/>
            <a:ext cx="7659648" cy="81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only 25% of calls completing successfully, there's substantial opportunity to improve customer satisfaction and revenue capture by addressing technical barriers and optimizing the connection process.</a:t>
            </a:r>
            <a:endParaRPr lang="en-US" sz="1300" dirty="0"/>
          </a:p>
        </p:txBody>
      </p:sp>
      <p:grpSp>
        <p:nvGrpSpPr>
          <p:cNvPr id="19" name="Group 9">
            <a:extLst>
              <a:ext uri="{FF2B5EF4-FFF2-40B4-BE49-F238E27FC236}">
                <a16:creationId xmlns:a16="http://schemas.microsoft.com/office/drawing/2014/main" id="{031ACF7F-461D-C3EE-216E-F80658A8C135}"/>
              </a:ext>
            </a:extLst>
          </p:cNvPr>
          <p:cNvGrpSpPr/>
          <p:nvPr/>
        </p:nvGrpSpPr>
        <p:grpSpPr>
          <a:xfrm>
            <a:off x="1072978" y="5246726"/>
            <a:ext cx="3926576" cy="2719984"/>
            <a:chOff x="0" y="0"/>
            <a:chExt cx="940712" cy="825207"/>
          </a:xfrm>
        </p:grpSpPr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D3F44106-87AC-E195-E61B-4869F7D9F081}"/>
                </a:ext>
              </a:extLst>
            </p:cNvPr>
            <p:cNvSpPr/>
            <p:nvPr/>
          </p:nvSpPr>
          <p:spPr>
            <a:xfrm>
              <a:off x="0" y="0"/>
              <a:ext cx="940712" cy="825207"/>
            </a:xfrm>
            <a:custGeom>
              <a:avLst/>
              <a:gdLst/>
              <a:ahLst/>
              <a:cxnLst/>
              <a:rect l="l" t="t" r="r" b="b"/>
              <a:pathLst>
                <a:path w="940712" h="825207">
                  <a:moveTo>
                    <a:pt x="24769" y="0"/>
                  </a:moveTo>
                  <a:lnTo>
                    <a:pt x="915943" y="0"/>
                  </a:lnTo>
                  <a:cubicBezTo>
                    <a:pt x="922513" y="0"/>
                    <a:pt x="928813" y="2610"/>
                    <a:pt x="933458" y="7255"/>
                  </a:cubicBezTo>
                  <a:cubicBezTo>
                    <a:pt x="938103" y="11900"/>
                    <a:pt x="940712" y="18200"/>
                    <a:pt x="940712" y="24769"/>
                  </a:cubicBezTo>
                  <a:lnTo>
                    <a:pt x="940712" y="800438"/>
                  </a:lnTo>
                  <a:cubicBezTo>
                    <a:pt x="940712" y="807007"/>
                    <a:pt x="938103" y="813308"/>
                    <a:pt x="933458" y="817953"/>
                  </a:cubicBezTo>
                  <a:cubicBezTo>
                    <a:pt x="928813" y="822598"/>
                    <a:pt x="922513" y="825207"/>
                    <a:pt x="915943" y="825207"/>
                  </a:cubicBezTo>
                  <a:lnTo>
                    <a:pt x="24769" y="825207"/>
                  </a:lnTo>
                  <a:cubicBezTo>
                    <a:pt x="18200" y="825207"/>
                    <a:pt x="11900" y="822598"/>
                    <a:pt x="7255" y="817953"/>
                  </a:cubicBezTo>
                  <a:cubicBezTo>
                    <a:pt x="2610" y="813308"/>
                    <a:pt x="0" y="807007"/>
                    <a:pt x="0" y="800438"/>
                  </a:cubicBezTo>
                  <a:lnTo>
                    <a:pt x="0" y="24769"/>
                  </a:lnTo>
                  <a:cubicBezTo>
                    <a:pt x="0" y="18200"/>
                    <a:pt x="2610" y="11900"/>
                    <a:pt x="7255" y="7255"/>
                  </a:cubicBezTo>
                  <a:cubicBezTo>
                    <a:pt x="11900" y="2610"/>
                    <a:pt x="18200" y="0"/>
                    <a:pt x="24769" y="0"/>
                  </a:cubicBezTo>
                  <a:close/>
                </a:path>
              </a:pathLst>
            </a:custGeom>
            <a:blipFill>
              <a:blip r:embed="rId5"/>
              <a:stretch>
                <a:fillRect l="-11382" r="-11382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8AAF"/>
                </a:solidFill>
                <a:latin typeface="+mj-lt"/>
                <a:ea typeface="Petrona Bold" pitchFamily="34" charset="-122"/>
                <a:cs typeface="Petrona Bold" pitchFamily="34" charset="-120"/>
              </a:rPr>
              <a:t>Chat Status Analysis</a:t>
            </a:r>
            <a:endParaRPr lang="en-US" sz="195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396835" y="868918"/>
            <a:ext cx="1828205" cy="189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Chat Performance Metrics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96835" y="1215033"/>
            <a:ext cx="3737967" cy="120491"/>
          </a:xfrm>
          <a:prstGeom prst="roundRect">
            <a:avLst>
              <a:gd name="adj" fmla="val 33603"/>
            </a:avLst>
          </a:prstGeom>
          <a:solidFill>
            <a:srgbClr val="0C0524"/>
          </a:solidFill>
          <a:ln w="7620">
            <a:solidFill>
              <a:srgbClr val="E596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6835" y="1215033"/>
            <a:ext cx="747593" cy="120491"/>
          </a:xfrm>
          <a:prstGeom prst="roundRect">
            <a:avLst>
              <a:gd name="adj" fmla="val 33603"/>
            </a:avLst>
          </a:prstGeom>
          <a:solidFill>
            <a:srgbClr val="FFB071"/>
          </a:solidFill>
          <a:ln/>
        </p:spPr>
      </p:sp>
      <p:sp>
        <p:nvSpPr>
          <p:cNvPr id="6" name="Text 4"/>
          <p:cNvSpPr/>
          <p:nvPr/>
        </p:nvSpPr>
        <p:spPr>
          <a:xfrm>
            <a:off x="4207073" y="1215033"/>
            <a:ext cx="233482" cy="12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20%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96835" y="1455896"/>
            <a:ext cx="1265158" cy="158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Completed Chats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96835" y="1710333"/>
            <a:ext cx="4043720" cy="262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Successfully finished chat consultations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61046" y="1215033"/>
            <a:ext cx="3733324" cy="120491"/>
          </a:xfrm>
          <a:prstGeom prst="roundRect">
            <a:avLst>
              <a:gd name="adj" fmla="val 33603"/>
            </a:avLst>
          </a:prstGeom>
          <a:solidFill>
            <a:srgbClr val="0C0524"/>
          </a:solidFill>
          <a:ln w="7620">
            <a:solidFill>
              <a:srgbClr val="E596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61046" y="1215033"/>
            <a:ext cx="2239923" cy="120491"/>
          </a:xfrm>
          <a:prstGeom prst="roundRect">
            <a:avLst>
              <a:gd name="adj" fmla="val 33603"/>
            </a:avLst>
          </a:prstGeom>
          <a:solidFill>
            <a:srgbClr val="FFB071"/>
          </a:solidFill>
          <a:ln/>
        </p:spPr>
      </p:sp>
      <p:sp>
        <p:nvSpPr>
          <p:cNvPr id="11" name="Text 9"/>
          <p:cNvSpPr/>
          <p:nvPr/>
        </p:nvSpPr>
        <p:spPr>
          <a:xfrm>
            <a:off x="8366641" y="1215033"/>
            <a:ext cx="238125" cy="12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60%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61046" y="1455896"/>
            <a:ext cx="1265158" cy="158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Failed Chats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61046" y="1710333"/>
            <a:ext cx="4043720" cy="377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Largest segment indicating service challenges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6835" y="2105501"/>
            <a:ext cx="3737967" cy="120491"/>
          </a:xfrm>
          <a:prstGeom prst="roundRect">
            <a:avLst>
              <a:gd name="adj" fmla="val 33603"/>
            </a:avLst>
          </a:prstGeom>
          <a:solidFill>
            <a:srgbClr val="0C0524"/>
          </a:solidFill>
          <a:ln w="7620">
            <a:solidFill>
              <a:srgbClr val="E596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6835" y="2105501"/>
            <a:ext cx="747593" cy="120491"/>
          </a:xfrm>
          <a:prstGeom prst="roundRect">
            <a:avLst>
              <a:gd name="adj" fmla="val 33603"/>
            </a:avLst>
          </a:prstGeom>
          <a:solidFill>
            <a:srgbClr val="FFB071"/>
          </a:solidFill>
          <a:ln/>
        </p:spPr>
      </p:sp>
      <p:sp>
        <p:nvSpPr>
          <p:cNvPr id="16" name="Text 14"/>
          <p:cNvSpPr/>
          <p:nvPr/>
        </p:nvSpPr>
        <p:spPr>
          <a:xfrm>
            <a:off x="4207073" y="2105501"/>
            <a:ext cx="233482" cy="12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20%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96835" y="2346365"/>
            <a:ext cx="1265158" cy="158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On Call Status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96835" y="3179086"/>
            <a:ext cx="4043720" cy="624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Alternative consultation formats</a:t>
            </a:r>
            <a:endParaRPr lang="en-US" sz="1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396835" y="2863452"/>
            <a:ext cx="8207931" cy="2062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8847415" y="1250394"/>
            <a:ext cx="5393650" cy="855107"/>
          </a:xfrm>
          <a:prstGeom prst="roundRect">
            <a:avLst>
              <a:gd name="adj" fmla="val 7182"/>
            </a:avLst>
          </a:prstGeom>
          <a:solidFill>
            <a:srgbClr val="1C113B"/>
          </a:solidFill>
          <a:ln/>
        </p:spPr>
        <p:txBody>
          <a:bodyPr/>
          <a:lstStyle/>
          <a:p>
            <a:r>
              <a:rPr lang="en-US" sz="1600" dirty="0">
                <a:solidFill>
                  <a:schemeClr val="bg1"/>
                </a:solidFill>
              </a:rPr>
              <a:t>Recommendation: Investigate technical barriers, consultant availability, and user experience factors contributing to high failure rates across both call and chat channels.</a:t>
            </a:r>
          </a:p>
          <a:p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4" name="Text 19"/>
          <p:cNvSpPr/>
          <p:nvPr/>
        </p:nvSpPr>
        <p:spPr>
          <a:xfrm>
            <a:off x="9160550" y="1370766"/>
            <a:ext cx="4984194" cy="562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endParaRPr lang="en-US" sz="105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2D3F4B-BC32-539C-E6EC-285F035F0953}"/>
              </a:ext>
            </a:extLst>
          </p:cNvPr>
          <p:cNvSpPr txBox="1"/>
          <p:nvPr/>
        </p:nvSpPr>
        <p:spPr>
          <a:xfrm>
            <a:off x="468630" y="3653135"/>
            <a:ext cx="731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Similar to call patterns, chat consultations show a concerning failure rate, with the majority of attempted chats not completing successfully. This represents a critical area for operational improvement.</a:t>
            </a:r>
          </a:p>
        </p:txBody>
      </p:sp>
      <p:grpSp>
        <p:nvGrpSpPr>
          <p:cNvPr id="27" name="Group 9">
            <a:extLst>
              <a:ext uri="{FF2B5EF4-FFF2-40B4-BE49-F238E27FC236}">
                <a16:creationId xmlns:a16="http://schemas.microsoft.com/office/drawing/2014/main" id="{72AA8BCC-88B6-B201-A454-BCA8FB5009E9}"/>
              </a:ext>
            </a:extLst>
          </p:cNvPr>
          <p:cNvGrpSpPr/>
          <p:nvPr/>
        </p:nvGrpSpPr>
        <p:grpSpPr>
          <a:xfrm>
            <a:off x="8058380" y="2605622"/>
            <a:ext cx="6309130" cy="5155348"/>
            <a:chOff x="0" y="0"/>
            <a:chExt cx="940712" cy="825207"/>
          </a:xfrm>
        </p:grpSpPr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649E2E7B-F8EE-5E16-1D2C-761C05988755}"/>
                </a:ext>
              </a:extLst>
            </p:cNvPr>
            <p:cNvSpPr/>
            <p:nvPr/>
          </p:nvSpPr>
          <p:spPr>
            <a:xfrm>
              <a:off x="0" y="0"/>
              <a:ext cx="940712" cy="825207"/>
            </a:xfrm>
            <a:custGeom>
              <a:avLst/>
              <a:gdLst/>
              <a:ahLst/>
              <a:cxnLst/>
              <a:rect l="l" t="t" r="r" b="b"/>
              <a:pathLst>
                <a:path w="940712" h="825207">
                  <a:moveTo>
                    <a:pt x="24769" y="0"/>
                  </a:moveTo>
                  <a:lnTo>
                    <a:pt x="915943" y="0"/>
                  </a:lnTo>
                  <a:cubicBezTo>
                    <a:pt x="922513" y="0"/>
                    <a:pt x="928813" y="2610"/>
                    <a:pt x="933458" y="7255"/>
                  </a:cubicBezTo>
                  <a:cubicBezTo>
                    <a:pt x="938103" y="11900"/>
                    <a:pt x="940712" y="18200"/>
                    <a:pt x="940712" y="24769"/>
                  </a:cubicBezTo>
                  <a:lnTo>
                    <a:pt x="940712" y="800438"/>
                  </a:lnTo>
                  <a:cubicBezTo>
                    <a:pt x="940712" y="807007"/>
                    <a:pt x="938103" y="813308"/>
                    <a:pt x="933458" y="817953"/>
                  </a:cubicBezTo>
                  <a:cubicBezTo>
                    <a:pt x="928813" y="822598"/>
                    <a:pt x="922513" y="825207"/>
                    <a:pt x="915943" y="825207"/>
                  </a:cubicBezTo>
                  <a:lnTo>
                    <a:pt x="24769" y="825207"/>
                  </a:lnTo>
                  <a:cubicBezTo>
                    <a:pt x="18200" y="825207"/>
                    <a:pt x="11900" y="822598"/>
                    <a:pt x="7255" y="817953"/>
                  </a:cubicBezTo>
                  <a:cubicBezTo>
                    <a:pt x="2610" y="813308"/>
                    <a:pt x="0" y="807007"/>
                    <a:pt x="0" y="800438"/>
                  </a:cubicBezTo>
                  <a:lnTo>
                    <a:pt x="0" y="24769"/>
                  </a:lnTo>
                  <a:cubicBezTo>
                    <a:pt x="0" y="18200"/>
                    <a:pt x="2610" y="11900"/>
                    <a:pt x="7255" y="7255"/>
                  </a:cubicBezTo>
                  <a:cubicBezTo>
                    <a:pt x="11900" y="2610"/>
                    <a:pt x="18200" y="0"/>
                    <a:pt x="24769" y="0"/>
                  </a:cubicBezTo>
                  <a:close/>
                </a:path>
              </a:pathLst>
            </a:custGeom>
            <a:blipFill>
              <a:blip r:embed="rId3"/>
              <a:stretch>
                <a:fillRect l="-8694" r="-8694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871299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Guru Rating Distribution: Chat vs. Call</a:t>
            </a:r>
            <a:endParaRPr lang="en-US" sz="46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55131"/>
            <a:ext cx="382667" cy="54875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92005" y="2926794"/>
            <a:ext cx="4312444" cy="893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Insight: Chat Outperforms Calls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1670063" y="4046815"/>
            <a:ext cx="431244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rating-wise distribution reveals that gurus consulting via </a:t>
            </a:r>
            <a:r>
              <a:rPr lang="en-US" sz="1750" b="1" dirty="0">
                <a:solidFill>
                  <a:srgbClr val="876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 consistently achieve higher ratings</a:t>
            </a: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compared to those conducting call consultations.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1703515" y="5702498"/>
            <a:ext cx="431244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performance gap suggests call consultations require targeted quality improvements and enhanced training protocols to match chat effectiveness.</a:t>
            </a:r>
            <a:endParaRPr lang="en-US" sz="1750" dirty="0"/>
          </a:p>
        </p:txBody>
      </p:sp>
      <p:grpSp>
        <p:nvGrpSpPr>
          <p:cNvPr id="8" name="Group 9">
            <a:extLst>
              <a:ext uri="{FF2B5EF4-FFF2-40B4-BE49-F238E27FC236}">
                <a16:creationId xmlns:a16="http://schemas.microsoft.com/office/drawing/2014/main" id="{AEA3DAD1-5EB4-4E0C-D305-B67090CC4D7C}"/>
              </a:ext>
            </a:extLst>
          </p:cNvPr>
          <p:cNvGrpSpPr/>
          <p:nvPr/>
        </p:nvGrpSpPr>
        <p:grpSpPr>
          <a:xfrm>
            <a:off x="6305561" y="1980984"/>
            <a:ext cx="8090663" cy="5173124"/>
            <a:chOff x="0" y="0"/>
            <a:chExt cx="1279469" cy="825207"/>
          </a:xfrm>
        </p:grpSpPr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E0C19B70-8B0A-14DE-E991-F921BE110B82}"/>
                </a:ext>
              </a:extLst>
            </p:cNvPr>
            <p:cNvSpPr/>
            <p:nvPr/>
          </p:nvSpPr>
          <p:spPr>
            <a:xfrm>
              <a:off x="0" y="0"/>
              <a:ext cx="1279469" cy="825207"/>
            </a:xfrm>
            <a:custGeom>
              <a:avLst/>
              <a:gdLst/>
              <a:ahLst/>
              <a:cxnLst/>
              <a:rect l="l" t="t" r="r" b="b"/>
              <a:pathLst>
                <a:path w="1279469" h="825207">
                  <a:moveTo>
                    <a:pt x="23644" y="0"/>
                  </a:moveTo>
                  <a:lnTo>
                    <a:pt x="1255825" y="0"/>
                  </a:lnTo>
                  <a:cubicBezTo>
                    <a:pt x="1262095" y="0"/>
                    <a:pt x="1268109" y="2491"/>
                    <a:pt x="1272544" y="6925"/>
                  </a:cubicBezTo>
                  <a:cubicBezTo>
                    <a:pt x="1276978" y="11359"/>
                    <a:pt x="1279469" y="17373"/>
                    <a:pt x="1279469" y="23644"/>
                  </a:cubicBezTo>
                  <a:lnTo>
                    <a:pt x="1279469" y="801563"/>
                  </a:lnTo>
                  <a:cubicBezTo>
                    <a:pt x="1279469" y="807834"/>
                    <a:pt x="1276978" y="813848"/>
                    <a:pt x="1272544" y="818282"/>
                  </a:cubicBezTo>
                  <a:cubicBezTo>
                    <a:pt x="1268109" y="822716"/>
                    <a:pt x="1262095" y="825207"/>
                    <a:pt x="1255825" y="825207"/>
                  </a:cubicBezTo>
                  <a:lnTo>
                    <a:pt x="23644" y="825207"/>
                  </a:lnTo>
                  <a:cubicBezTo>
                    <a:pt x="17373" y="825207"/>
                    <a:pt x="11359" y="822716"/>
                    <a:pt x="6925" y="818282"/>
                  </a:cubicBezTo>
                  <a:cubicBezTo>
                    <a:pt x="2491" y="813848"/>
                    <a:pt x="0" y="807834"/>
                    <a:pt x="0" y="801563"/>
                  </a:cubicBezTo>
                  <a:lnTo>
                    <a:pt x="0" y="23644"/>
                  </a:lnTo>
                  <a:cubicBezTo>
                    <a:pt x="0" y="17373"/>
                    <a:pt x="2491" y="11359"/>
                    <a:pt x="6925" y="6925"/>
                  </a:cubicBezTo>
                  <a:cubicBezTo>
                    <a:pt x="11359" y="2491"/>
                    <a:pt x="17373" y="0"/>
                    <a:pt x="23644" y="0"/>
                  </a:cubicBezTo>
                  <a:close/>
                </a:path>
              </a:pathLst>
            </a:custGeom>
            <a:blipFill>
              <a:blip r:embed="rId4"/>
              <a:stretch>
                <a:fillRect l="-71" r="-71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88670" y="619720"/>
            <a:ext cx="7566660" cy="1404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User Satisfaction: Channel Comparison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788670" y="2345769"/>
            <a:ext cx="7566660" cy="1607820"/>
          </a:xfrm>
          <a:prstGeom prst="roundRect">
            <a:avLst>
              <a:gd name="adj" fmla="val 5593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10364" y="2567464"/>
            <a:ext cx="2809994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Chat Consultations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10364" y="3047048"/>
            <a:ext cx="7123271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report </a:t>
            </a:r>
            <a:r>
              <a:rPr lang="en-US" sz="16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satisfaction scores</a:t>
            </a:r>
            <a:r>
              <a:rPr lang="en-US" sz="16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when consulting via chat, indicating better overall experience and quality.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88670" y="4167664"/>
            <a:ext cx="7566660" cy="1607820"/>
          </a:xfrm>
          <a:prstGeom prst="roundRect">
            <a:avLst>
              <a:gd name="adj" fmla="val 5593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10364" y="4389358"/>
            <a:ext cx="2809994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Call Consultations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10364" y="4868942"/>
            <a:ext cx="7123271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Call-based users show </a:t>
            </a:r>
            <a:r>
              <a:rPr lang="en-US" sz="16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ratings</a:t>
            </a:r>
            <a:r>
              <a:rPr lang="en-US" sz="16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highlighting opportunities for service enhancement and process optimization.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88670" y="6016228"/>
            <a:ext cx="7566660" cy="1594485"/>
          </a:xfrm>
          <a:prstGeom prst="roundRect">
            <a:avLst>
              <a:gd name="adj" fmla="val 5640"/>
            </a:avLst>
          </a:prstGeom>
          <a:solidFill>
            <a:srgbClr val="1C113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744" y="6340197"/>
            <a:ext cx="267533" cy="2140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84352" y="6283762"/>
            <a:ext cx="6656903" cy="1027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 Required:</a:t>
            </a: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Implementing comprehensive training programs and quality assurance measures for call consultations will be critical to closing this satisfaction gap.</a:t>
            </a:r>
            <a:endParaRPr lang="en-US" sz="1650" dirty="0"/>
          </a:p>
        </p:txBody>
      </p:sp>
      <p:grpSp>
        <p:nvGrpSpPr>
          <p:cNvPr id="13" name="Group 9">
            <a:extLst>
              <a:ext uri="{FF2B5EF4-FFF2-40B4-BE49-F238E27FC236}">
                <a16:creationId xmlns:a16="http://schemas.microsoft.com/office/drawing/2014/main" id="{FD17F470-780D-EF52-AB66-FAAAB4F62B77}"/>
              </a:ext>
            </a:extLst>
          </p:cNvPr>
          <p:cNvGrpSpPr/>
          <p:nvPr/>
        </p:nvGrpSpPr>
        <p:grpSpPr>
          <a:xfrm>
            <a:off x="8754325" y="2804383"/>
            <a:ext cx="5651233" cy="3819324"/>
            <a:chOff x="0" y="0"/>
            <a:chExt cx="2226684" cy="1552744"/>
          </a:xfrm>
        </p:grpSpPr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500CFF29-9587-A4E2-3545-21D8C62794F7}"/>
                </a:ext>
              </a:extLst>
            </p:cNvPr>
            <p:cNvSpPr/>
            <p:nvPr/>
          </p:nvSpPr>
          <p:spPr>
            <a:xfrm>
              <a:off x="0" y="0"/>
              <a:ext cx="2226684" cy="1552744"/>
            </a:xfrm>
            <a:custGeom>
              <a:avLst/>
              <a:gdLst/>
              <a:ahLst/>
              <a:cxnLst/>
              <a:rect l="l" t="t" r="r" b="b"/>
              <a:pathLst>
                <a:path w="2226684" h="1552744">
                  <a:moveTo>
                    <a:pt x="21985" y="0"/>
                  </a:moveTo>
                  <a:lnTo>
                    <a:pt x="2204699" y="0"/>
                  </a:lnTo>
                  <a:cubicBezTo>
                    <a:pt x="2216841" y="0"/>
                    <a:pt x="2226684" y="9843"/>
                    <a:pt x="2226684" y="21985"/>
                  </a:cubicBezTo>
                  <a:lnTo>
                    <a:pt x="2226684" y="1530759"/>
                  </a:lnTo>
                  <a:cubicBezTo>
                    <a:pt x="2226684" y="1542901"/>
                    <a:pt x="2216841" y="1552744"/>
                    <a:pt x="2204699" y="1552744"/>
                  </a:cubicBezTo>
                  <a:lnTo>
                    <a:pt x="21985" y="1552744"/>
                  </a:lnTo>
                  <a:cubicBezTo>
                    <a:pt x="9843" y="1552744"/>
                    <a:pt x="0" y="1542901"/>
                    <a:pt x="0" y="1530759"/>
                  </a:cubicBezTo>
                  <a:lnTo>
                    <a:pt x="0" y="21985"/>
                  </a:lnTo>
                  <a:cubicBezTo>
                    <a:pt x="0" y="9843"/>
                    <a:pt x="9843" y="0"/>
                    <a:pt x="21985" y="0"/>
                  </a:cubicBezTo>
                  <a:close/>
                </a:path>
              </a:pathLst>
            </a:custGeom>
            <a:blipFill>
              <a:blip r:embed="rId4"/>
              <a:stretch>
                <a:fillRect l="-2585" r="-2585" b="-8588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2358" y="823079"/>
            <a:ext cx="7599283" cy="1448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700"/>
              </a:lnSpc>
              <a:buNone/>
            </a:pPr>
            <a:r>
              <a:rPr lang="en-US" sz="45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Top-Rated Gurus Performance</a:t>
            </a:r>
            <a:endParaRPr lang="en-US" sz="4550" dirty="0"/>
          </a:p>
        </p:txBody>
      </p:sp>
      <p:sp>
        <p:nvSpPr>
          <p:cNvPr id="5" name="Text 1"/>
          <p:cNvSpPr/>
          <p:nvPr/>
        </p:nvSpPr>
        <p:spPr>
          <a:xfrm>
            <a:off x="5868972" y="2822972"/>
            <a:ext cx="3123486" cy="43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Excellence Leaders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5824365" y="3422180"/>
            <a:ext cx="3123486" cy="1765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876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Tarot Mystical and Astro Puja Rai</a:t>
            </a:r>
            <a:r>
              <a:rPr lang="en-US" sz="1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lead with an impressive average rating of </a:t>
            </a:r>
            <a:r>
              <a:rPr lang="en-US" sz="17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</a:t>
            </a:r>
            <a:r>
              <a:rPr lang="en-US" sz="1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setting the benchmark for consultation quality.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5935884" y="5364171"/>
            <a:ext cx="3123486" cy="1765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top 10 gurus maintain a solid average rating of </a:t>
            </a:r>
            <a:r>
              <a:rPr lang="en-US" sz="17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5.5</a:t>
            </a:r>
            <a:r>
              <a:rPr lang="en-US" sz="1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demonstrating consistent quality across high-performing consultants.</a:t>
            </a:r>
            <a:endParaRPr lang="en-US" sz="1700" dirty="0"/>
          </a:p>
        </p:txBody>
      </p:sp>
      <p:grpSp>
        <p:nvGrpSpPr>
          <p:cNvPr id="8" name="Group 9">
            <a:extLst>
              <a:ext uri="{FF2B5EF4-FFF2-40B4-BE49-F238E27FC236}">
                <a16:creationId xmlns:a16="http://schemas.microsoft.com/office/drawing/2014/main" id="{B2DA08AC-4758-FE64-746F-D1AED289D8C4}"/>
              </a:ext>
            </a:extLst>
          </p:cNvPr>
          <p:cNvGrpSpPr/>
          <p:nvPr/>
        </p:nvGrpSpPr>
        <p:grpSpPr>
          <a:xfrm>
            <a:off x="167270" y="2598234"/>
            <a:ext cx="5550160" cy="3939046"/>
            <a:chOff x="0" y="0"/>
            <a:chExt cx="2613760" cy="1552744"/>
          </a:xfrm>
        </p:grpSpPr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719EDB66-7D5F-3DAA-34C3-A2DCF833DE0B}"/>
                </a:ext>
              </a:extLst>
            </p:cNvPr>
            <p:cNvSpPr/>
            <p:nvPr/>
          </p:nvSpPr>
          <p:spPr>
            <a:xfrm>
              <a:off x="0" y="0"/>
              <a:ext cx="2613760" cy="1552744"/>
            </a:xfrm>
            <a:custGeom>
              <a:avLst/>
              <a:gdLst/>
              <a:ahLst/>
              <a:cxnLst/>
              <a:rect l="l" t="t" r="r" b="b"/>
              <a:pathLst>
                <a:path w="2613760" h="1552744">
                  <a:moveTo>
                    <a:pt x="21514" y="0"/>
                  </a:moveTo>
                  <a:lnTo>
                    <a:pt x="2592246" y="0"/>
                  </a:lnTo>
                  <a:cubicBezTo>
                    <a:pt x="2597952" y="0"/>
                    <a:pt x="2603424" y="2267"/>
                    <a:pt x="2607459" y="6301"/>
                  </a:cubicBezTo>
                  <a:cubicBezTo>
                    <a:pt x="2611494" y="10336"/>
                    <a:pt x="2613760" y="15808"/>
                    <a:pt x="2613760" y="21514"/>
                  </a:cubicBezTo>
                  <a:lnTo>
                    <a:pt x="2613760" y="1531230"/>
                  </a:lnTo>
                  <a:cubicBezTo>
                    <a:pt x="2613760" y="1543112"/>
                    <a:pt x="2604128" y="1552744"/>
                    <a:pt x="2592246" y="1552744"/>
                  </a:cubicBezTo>
                  <a:lnTo>
                    <a:pt x="21514" y="1552744"/>
                  </a:lnTo>
                  <a:cubicBezTo>
                    <a:pt x="9632" y="1552744"/>
                    <a:pt x="0" y="1543112"/>
                    <a:pt x="0" y="1531230"/>
                  </a:cubicBezTo>
                  <a:lnTo>
                    <a:pt x="0" y="21514"/>
                  </a:lnTo>
                  <a:cubicBezTo>
                    <a:pt x="0" y="9632"/>
                    <a:pt x="9632" y="0"/>
                    <a:pt x="21514" y="0"/>
                  </a:cubicBezTo>
                  <a:close/>
                </a:path>
              </a:pathLst>
            </a:custGeom>
            <a:blipFill>
              <a:blip r:embed="rId4"/>
              <a:stretch>
                <a:fillRect t="-2641" b="-2641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E8BC7C5-7412-BC50-47F7-25F37259C5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1444" y="50379"/>
            <a:ext cx="13911781" cy="810116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35411"/>
            <a:ext cx="8031956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Comprehensive Dashboard Overview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3203019"/>
            <a:ext cx="1814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488531"/>
            <a:ext cx="6430685" cy="228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624977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 Analytics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793790" y="4031456"/>
            <a:ext cx="643068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Consultation-wise revenue tracking with detailed breakdowns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405926" y="3203019"/>
            <a:ext cx="1814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5926" y="3488531"/>
            <a:ext cx="6430685" cy="228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05926" y="3624977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Dynamic Filtering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7405926" y="4031456"/>
            <a:ext cx="643068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slicers for website, consultation type, months, and year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93790" y="4639270"/>
            <a:ext cx="1814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14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906685"/>
            <a:ext cx="6430685" cy="228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3790" y="5061228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Status Monitoring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793790" y="5467707"/>
            <a:ext cx="643068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call and chat status distribution across platforms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7405926" y="4639270"/>
            <a:ext cx="1814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14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5926" y="4906685"/>
            <a:ext cx="6430685" cy="228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05926" y="5061228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Performance Metrics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7405926" y="5467707"/>
            <a:ext cx="643068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Guru ratings, user satisfaction, and hourly consultation patterns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7473"/>
            <a:ext cx="7169825" cy="63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Strategic Initiatives for Growth</a:t>
            </a:r>
            <a:endParaRPr lang="en-US" sz="3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755577"/>
            <a:ext cx="963930" cy="14341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50482" y="1948339"/>
            <a:ext cx="3000613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Technology Enhancement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950482" y="2380178"/>
            <a:ext cx="11886128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Upgrade platform infrastructure to increase app engagement and reduce cancelled or failed consultations, directly improving profitability and user retention.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189684"/>
            <a:ext cx="963930" cy="14341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50482" y="3382447"/>
            <a:ext cx="2865001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Automation &amp; Efficiency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1950482" y="3814286"/>
            <a:ext cx="11886128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chatbots and virtual assistants for general inquiries, reserving human consultants for peak hours and complex consultations to optimize operational costs.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623792"/>
            <a:ext cx="963930" cy="14341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50482" y="4816554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CRM &amp; Pre-Booking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950482" y="5248394"/>
            <a:ext cx="11886128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customer relationship management software with pre-booking capabilities, assigning dedicated consultants to clients for enhanced satisfaction and streamlined processes.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6057900"/>
            <a:ext cx="963930" cy="14341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50482" y="6250662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Quality Assurance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1950482" y="6682502"/>
            <a:ext cx="11886128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customer choice of consultants, collect session feedback, and distribute top-rated recordings weekly for ongoing training to maintain consistency across all consultants.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8658"/>
            <a:ext cx="499205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Recommendations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93790" y="1760339"/>
            <a:ext cx="408265" cy="408265"/>
          </a:xfrm>
          <a:prstGeom prst="roundRect">
            <a:avLst>
              <a:gd name="adj" fmla="val 18668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83506" y="1822609"/>
            <a:ext cx="2528888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Operational Excellence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1383506" y="2301716"/>
            <a:ext cx="7058858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Streamline operations through technology upgrades to reduce failed consultations and boost customer satisfaction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93790" y="3245168"/>
            <a:ext cx="408265" cy="408265"/>
          </a:xfrm>
          <a:prstGeom prst="roundRect">
            <a:avLst>
              <a:gd name="adj" fmla="val 18668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83506" y="3307437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 Growth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383506" y="3786545"/>
            <a:ext cx="7058858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call consultations while implementing chatbots for routine queries to increase revenue and reduce costs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3790" y="4729996"/>
            <a:ext cx="408265" cy="408265"/>
          </a:xfrm>
          <a:prstGeom prst="roundRect">
            <a:avLst>
              <a:gd name="adj" fmla="val 18668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83506" y="4792266"/>
            <a:ext cx="271819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Empowerment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1383506" y="5271373"/>
            <a:ext cx="7058858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 consultant selection and gather feedback to build trust and strengthen customer loyalty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3790" y="6214824"/>
            <a:ext cx="408265" cy="408265"/>
          </a:xfrm>
          <a:prstGeom prst="roundRect">
            <a:avLst>
              <a:gd name="adj" fmla="val 18668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83506" y="6277094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Efficiency Gains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1383506" y="6756202"/>
            <a:ext cx="7058858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pre-booking and CRM systems to eliminate repetitive intro sessions and improve workflow</a:t>
            </a:r>
            <a:endParaRPr lang="en-US" sz="14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2659" y="1760339"/>
            <a:ext cx="3961090" cy="402050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7729"/>
            <a:ext cx="6462951" cy="483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Path Forward: Quality &amp; Consistency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93790" y="3047643"/>
            <a:ext cx="13042821" cy="15240"/>
          </a:xfrm>
          <a:prstGeom prst="roundRect">
            <a:avLst>
              <a:gd name="adj" fmla="val 406325"/>
            </a:avLst>
          </a:prstGeom>
          <a:solidFill>
            <a:srgbClr val="48367C"/>
          </a:solidFill>
          <a:ln/>
        </p:spPr>
      </p:sp>
      <p:sp>
        <p:nvSpPr>
          <p:cNvPr id="4" name="Shape 2"/>
          <p:cNvSpPr/>
          <p:nvPr/>
        </p:nvSpPr>
        <p:spPr>
          <a:xfrm>
            <a:off x="3339465" y="2605445"/>
            <a:ext cx="15240" cy="442198"/>
          </a:xfrm>
          <a:prstGeom prst="roundRect">
            <a:avLst>
              <a:gd name="adj" fmla="val 406325"/>
            </a:avLst>
          </a:prstGeom>
          <a:solidFill>
            <a:srgbClr val="48367C"/>
          </a:solidFill>
          <a:ln/>
        </p:spPr>
      </p:sp>
      <p:sp>
        <p:nvSpPr>
          <p:cNvPr id="5" name="Shape 3"/>
          <p:cNvSpPr/>
          <p:nvPr/>
        </p:nvSpPr>
        <p:spPr>
          <a:xfrm>
            <a:off x="3181231" y="2881789"/>
            <a:ext cx="331708" cy="331708"/>
          </a:xfrm>
          <a:prstGeom prst="roundRect">
            <a:avLst>
              <a:gd name="adj" fmla="val 18668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30999" y="2902565"/>
            <a:ext cx="232172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379464" y="1656278"/>
            <a:ext cx="1935123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Recognition Program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41189" y="1986439"/>
            <a:ext cx="481179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Acknowledge top consultants and share best practices through weekly recording distribution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84796" y="3047643"/>
            <a:ext cx="15240" cy="442198"/>
          </a:xfrm>
          <a:prstGeom prst="roundRect">
            <a:avLst>
              <a:gd name="adj" fmla="val 406325"/>
            </a:avLst>
          </a:prstGeom>
          <a:solidFill>
            <a:srgbClr val="48367C"/>
          </a:solidFill>
          <a:ln/>
        </p:spPr>
      </p:sp>
      <p:sp>
        <p:nvSpPr>
          <p:cNvPr id="10" name="Shape 8"/>
          <p:cNvSpPr/>
          <p:nvPr/>
        </p:nvSpPr>
        <p:spPr>
          <a:xfrm>
            <a:off x="5826562" y="2881789"/>
            <a:ext cx="331708" cy="331708"/>
          </a:xfrm>
          <a:prstGeom prst="roundRect">
            <a:avLst>
              <a:gd name="adj" fmla="val 18668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76330" y="2902565"/>
            <a:ext cx="232172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66097" y="3637359"/>
            <a:ext cx="2052518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Training Enhancement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86520" y="3967520"/>
            <a:ext cx="481179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Organize regular training sessions to maintain service quality and keep all consultants current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30245" y="2605445"/>
            <a:ext cx="15240" cy="442198"/>
          </a:xfrm>
          <a:prstGeom prst="roundRect">
            <a:avLst>
              <a:gd name="adj" fmla="val 406325"/>
            </a:avLst>
          </a:prstGeom>
          <a:solidFill>
            <a:srgbClr val="48367C"/>
          </a:solidFill>
          <a:ln/>
        </p:spPr>
      </p:sp>
      <p:sp>
        <p:nvSpPr>
          <p:cNvPr id="15" name="Shape 13"/>
          <p:cNvSpPr/>
          <p:nvPr/>
        </p:nvSpPr>
        <p:spPr>
          <a:xfrm>
            <a:off x="8472011" y="2881789"/>
            <a:ext cx="331708" cy="331708"/>
          </a:xfrm>
          <a:prstGeom prst="roundRect">
            <a:avLst>
              <a:gd name="adj" fmla="val 18668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21779" y="2902565"/>
            <a:ext cx="232172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670244" y="1656278"/>
            <a:ext cx="1935123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Call Quality Focus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31969" y="1986439"/>
            <a:ext cx="481179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improved training models for call consultations to reduce session time while increasing satisfaction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1275576" y="3047643"/>
            <a:ext cx="15240" cy="442198"/>
          </a:xfrm>
          <a:prstGeom prst="roundRect">
            <a:avLst>
              <a:gd name="adj" fmla="val 406325"/>
            </a:avLst>
          </a:prstGeom>
          <a:solidFill>
            <a:srgbClr val="48367C"/>
          </a:solidFill>
          <a:ln/>
        </p:spPr>
      </p:sp>
      <p:sp>
        <p:nvSpPr>
          <p:cNvPr id="20" name="Shape 18"/>
          <p:cNvSpPr/>
          <p:nvPr/>
        </p:nvSpPr>
        <p:spPr>
          <a:xfrm>
            <a:off x="11117342" y="2881789"/>
            <a:ext cx="331708" cy="331708"/>
          </a:xfrm>
          <a:prstGeom prst="roundRect">
            <a:avLst>
              <a:gd name="adj" fmla="val 18668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67110" y="2902565"/>
            <a:ext cx="232172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315575" y="3637359"/>
            <a:ext cx="1935123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Cost Optimization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877300" y="3967520"/>
            <a:ext cx="481179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Achieve better efficiency and reduced operational costs through strategic improvements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3790" y="4770715"/>
            <a:ext cx="9022080" cy="862013"/>
          </a:xfrm>
          <a:prstGeom prst="roundRect">
            <a:avLst>
              <a:gd name="adj" fmla="val 7184"/>
            </a:avLst>
          </a:prstGeom>
          <a:solidFill>
            <a:srgbClr val="1C113B"/>
          </a:solidFill>
          <a:ln/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189" y="4993481"/>
            <a:ext cx="184190" cy="147399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272778" y="4954905"/>
            <a:ext cx="839569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Focus:</a:t>
            </a: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Call center training must prioritize consultation completion speed while maintaining quality, ultimately driving better ratings and customer experience.</a:t>
            </a:r>
            <a:endParaRPr lang="en-US" sz="115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3058" y="4770715"/>
            <a:ext cx="2379583" cy="241518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2274689"/>
            <a:ext cx="3898821" cy="2977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0"/>
              </a:lnSpc>
              <a:buNone/>
            </a:pPr>
            <a:r>
              <a:rPr lang="en-US" sz="93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Thank You</a:t>
            </a:r>
            <a:endParaRPr lang="en-US" sz="9350" dirty="0"/>
          </a:p>
        </p:txBody>
      </p:sp>
      <p:sp>
        <p:nvSpPr>
          <p:cNvPr id="4" name="Text 1"/>
          <p:cNvSpPr/>
          <p:nvPr/>
        </p:nvSpPr>
        <p:spPr>
          <a:xfrm>
            <a:off x="793790" y="5591889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and discussion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1255</Words>
  <Application>Microsoft Office PowerPoint</Application>
  <PresentationFormat>Custom</PresentationFormat>
  <Paragraphs>168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Calibri Light</vt:lpstr>
      <vt:lpstr>Petrona Bold</vt:lpstr>
      <vt:lpstr>Petrona Light</vt:lpstr>
      <vt:lpstr>Inter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Dell</dc:creator>
  <cp:lastModifiedBy>Dell</cp:lastModifiedBy>
  <cp:revision>3</cp:revision>
  <dcterms:created xsi:type="dcterms:W3CDTF">2025-11-23T16:59:17Z</dcterms:created>
  <dcterms:modified xsi:type="dcterms:W3CDTF">2025-11-23T17:36:08Z</dcterms:modified>
</cp:coreProperties>
</file>